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84090C6-9EB3-5E43-4A26-2C8DCF099D80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4BB814AA-0A05-1364-8CBE-6F6F3D87991E}">
          <p14:sldIdLst>
            <p14:sldId id="261"/>
            <p14:sldId id="262"/>
            <p14:sldId id="263"/>
            <p14:sldId id="264"/>
          </p14:sldIdLst>
        </p14:section>
        <p14:section name="Implementation" id="{E417C882-8B16-5910-2973-4128F4B145E2}">
          <p14:sldIdLst>
            <p14:sldId id="265"/>
            <p14:sldId id="266"/>
            <p14:sldId id="267"/>
            <p14:sldId id="268"/>
            <p14:sldId id="269"/>
          </p14:sldIdLst>
        </p14:section>
        <p14:section name="Wrap-up" id="{C24A1014-206F-44A6-BD6D-05B8F55A7E38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ka Lokesh" userId="5f79b6ec5b2a91a4" providerId="LiveId" clId="{77498D87-8211-41C1-B1EB-33EF975BB094}"/>
    <pc:docChg chg="custSel modSld">
      <pc:chgData name="Lenka Lokesh" userId="5f79b6ec5b2a91a4" providerId="LiveId" clId="{77498D87-8211-41C1-B1EB-33EF975BB094}" dt="2026-10-16T18:00:01.559" v="36" actId="1036"/>
      <pc:docMkLst>
        <pc:docMk/>
      </pc:docMkLst>
      <pc:sldChg chg="delSp modSp mod">
        <pc:chgData name="Lenka Lokesh" userId="5f79b6ec5b2a91a4" providerId="LiveId" clId="{77498D87-8211-41C1-B1EB-33EF975BB094}" dt="2026-10-16T18:00:01.559" v="36" actId="1036"/>
        <pc:sldMkLst>
          <pc:docMk/>
          <pc:sldMk cId="0" sldId="256"/>
        </pc:sldMkLst>
        <pc:spChg chg="mod">
          <ac:chgData name="Lenka Lokesh" userId="5f79b6ec5b2a91a4" providerId="LiveId" clId="{77498D87-8211-41C1-B1EB-33EF975BB094}" dt="2026-10-16T18:00:01.559" v="36" actId="10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Lenka Lokesh" userId="5f79b6ec5b2a91a4" providerId="LiveId" clId="{77498D87-8211-41C1-B1EB-33EF975BB094}" dt="2026-10-16T17:59:27.345" v="31" actId="113"/>
          <ac:spMkLst>
            <pc:docMk/>
            <pc:sldMk cId="0" sldId="256"/>
            <ac:spMk id="4" creationId="{00000000-0000-0000-0000-000000000000}"/>
          </ac:spMkLst>
        </pc:spChg>
        <pc:spChg chg="del">
          <ac:chgData name="Lenka Lokesh" userId="5f79b6ec5b2a91a4" providerId="LiveId" clId="{77498D87-8211-41C1-B1EB-33EF975BB094}" dt="2026-10-16T17:58:48.268" v="0" actId="478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050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Food Management System | MySQL 8.0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Food Management System | MySQL 8.0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5852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603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Food Management System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984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Food Delivery Platform Database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585216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Presented by: </a:t>
            </a:r>
            <a:r>
              <a:rPr lang="en-US" sz="1400" b="1" dirty="0">
                <a:solidFill>
                  <a:schemeClr val="bg1"/>
                </a:solidFill>
              </a:rPr>
              <a:t>LOKESH LENKA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Database: MySQL 8.0 • 7 Tables • 3NF Design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Technologies: MySQL 8.0 • MySQL Workbench</a:t>
            </a:r>
            <a:endParaRPr lang="en-US" sz="1400" dirty="0"/>
          </a:p>
        </p:txBody>
      </p:sp>
      <p:sp>
        <p:nvSpPr>
          <p:cNvPr id="6" name="flow-node-Customer"/>
          <p:cNvSpPr txBox="1"/>
          <p:nvPr/>
        </p:nvSpPr>
        <p:spPr>
          <a:xfrm>
            <a:off x="6949440" y="822960"/>
            <a:ext cx="16459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1554480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flow-node-Restaurant"/>
          <p:cNvSpPr txBox="1"/>
          <p:nvPr/>
        </p:nvSpPr>
        <p:spPr>
          <a:xfrm>
            <a:off x="6949440" y="1737360"/>
            <a:ext cx="16459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Restaurant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2468880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flow-node-Database"/>
          <p:cNvSpPr txBox="1"/>
          <p:nvPr/>
        </p:nvSpPr>
        <p:spPr>
          <a:xfrm>
            <a:off x="6949440" y="2651760"/>
            <a:ext cx="16459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3383280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flow-node-Delivery"/>
          <p:cNvSpPr txBox="1"/>
          <p:nvPr/>
        </p:nvSpPr>
        <p:spPr>
          <a:xfrm>
            <a:off x="6949440" y="3566160"/>
            <a:ext cx="16459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Delivery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 Project Overview</a:t>
            </a:r>
            <a:endParaRPr lang="en-US" sz="2800" dirty="0"/>
          </a:p>
        </p:txBody>
      </p:sp>
      <p:sp>
        <p:nvSpPr>
          <p:cNvPr id="3" name="overview-card-1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👤 Users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accounts and contact details.</a:t>
            </a:r>
            <a:endParaRPr lang="en-US" sz="1500" dirty="0"/>
          </a:p>
        </p:txBody>
      </p:sp>
      <p:sp>
        <p:nvSpPr>
          <p:cNvPr id="5" name="overview-card-2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83280" y="1280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🍽️ Restaurants &amp; Menu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Partner restaurants, open status, and a food catalogue with prices.</a:t>
            </a:r>
            <a:endParaRPr lang="en-US" sz="1500" dirty="0"/>
          </a:p>
        </p:txBody>
      </p:sp>
      <p:sp>
        <p:nvSpPr>
          <p:cNvPr id="7" name="overview-card-3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280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🧾 Orders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 header with date, status and total, plus line items.</a:t>
            </a:r>
            <a:endParaRPr lang="en-US" sz="1500" dirty="0"/>
          </a:p>
        </p:txBody>
      </p:sp>
      <p:sp>
        <p:nvSpPr>
          <p:cNvPr id="9" name="overview-card-4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💳 Payments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record with method and amount for every order.</a:t>
            </a:r>
            <a:endParaRPr lang="en-US" sz="1500" dirty="0"/>
          </a:p>
        </p:txBody>
      </p:sp>
      <p:sp>
        <p:nvSpPr>
          <p:cNvPr id="11" name="overview-card-5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🛵 Delivery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Rider tracking with live delivery status.</a:t>
            </a:r>
            <a:endParaRPr lang="en-US" sz="1500" dirty="0"/>
          </a:p>
        </p:txBody>
      </p:sp>
      <p:sp>
        <p:nvSpPr>
          <p:cNvPr id="13" name="overview-card-6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📊 Reporting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Views and procedures for revenue and top-item reports.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2. Problem Statement &amp; Objectives</a:t>
            </a:r>
            <a:endParaRPr lang="en-US" sz="2800" dirty="0"/>
          </a:p>
        </p:txBody>
      </p:sp>
      <p:sp>
        <p:nvSpPr>
          <p:cNvPr id="3" name="problem-card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Problem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Customer and order data can become difficult to manage. Several food items belong to one order, and payments and delivery status must stay connected.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Reports such as revenue and top items need accurate data.</a:t>
            </a:r>
            <a:endParaRPr lang="en-US" sz="1800" dirty="0"/>
          </a:p>
        </p:txBody>
      </p:sp>
      <p:sp>
        <p:nvSpPr>
          <p:cNvPr id="5" name="objectives-card"/>
          <p:cNvSpPr/>
          <p:nvPr/>
        </p:nvSpPr>
        <p:spPr>
          <a:xfrm>
            <a:off x="4572000" y="1143000"/>
            <a:ext cx="411480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54880" y="13258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a relational MySQL database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primary and foreign keys for integrity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Apply 3NF normalization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 order totals with triggers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Simplify reporting with views and procedures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 7 related tables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Technology Stack &amp; Scope</a:t>
            </a:r>
            <a:endParaRPr lang="en-US" sz="2800" dirty="0"/>
          </a:p>
        </p:txBody>
      </p:sp>
      <p:sp>
        <p:nvSpPr>
          <p:cNvPr id="3" name="tech-card-1"/>
          <p:cNvSpPr/>
          <p:nvPr/>
        </p:nvSpPr>
        <p:spPr>
          <a:xfrm>
            <a:off x="457200" y="1188720"/>
            <a:ext cx="45720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MySQL 8.0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Relational database management system</a:t>
            </a:r>
            <a:endParaRPr lang="en-US" sz="1600" dirty="0"/>
          </a:p>
        </p:txBody>
      </p:sp>
      <p:sp>
        <p:nvSpPr>
          <p:cNvPr id="5" name="tech-card-2"/>
          <p:cNvSpPr/>
          <p:nvPr/>
        </p:nvSpPr>
        <p:spPr>
          <a:xfrm>
            <a:off x="457200" y="2286000"/>
            <a:ext cx="45720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423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MySQL Workbench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creation, execution and project demo</a:t>
            </a:r>
            <a:endParaRPr lang="en-US" sz="1600" dirty="0"/>
          </a:p>
        </p:txBody>
      </p:sp>
      <p:sp>
        <p:nvSpPr>
          <p:cNvPr id="7" name="tech-card-3"/>
          <p:cNvSpPr/>
          <p:nvPr/>
        </p:nvSpPr>
        <p:spPr>
          <a:xfrm>
            <a:off x="457200" y="3383280"/>
            <a:ext cx="45720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520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SQL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DDL, DML, DQL, joins and aggregate queries</a:t>
            </a:r>
            <a:endParaRPr lang="en-US" sz="1600" dirty="0"/>
          </a:p>
        </p:txBody>
      </p:sp>
      <p:sp>
        <p:nvSpPr>
          <p:cNvPr id="9" name="scope-panel"/>
          <p:cNvSpPr/>
          <p:nvPr/>
        </p:nvSpPr>
        <p:spPr>
          <a:xfrm>
            <a:off x="5303520" y="1188720"/>
            <a:ext cx="3383280" cy="3154680"/>
          </a:xfrm>
          <a:prstGeom prst="roundRect">
            <a:avLst>
              <a:gd name="adj" fmla="val 2319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0" y="13716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Project Scope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Database:  </a:t>
            </a:r>
            <a:r>
              <a:rPr lang="en-US" sz="1400" b="1" dirty="0">
                <a:solidFill>
                  <a:schemeClr val="bg1"/>
                </a:solidFill>
              </a:rPr>
              <a:t>MySQL 8.0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Tables:  </a:t>
            </a: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Design:  </a:t>
            </a:r>
            <a:r>
              <a:rPr lang="en-US" sz="1400" b="1" dirty="0">
                <a:solidFill>
                  <a:schemeClr val="bg1"/>
                </a:solidFill>
              </a:rPr>
              <a:t>3NF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Triggers:  </a:t>
            </a: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Views:  </a:t>
            </a: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Stored procedures:  </a:t>
            </a: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Focus: relational design + automation + reporting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System Architecture</a:t>
            </a:r>
            <a:endParaRPr lang="en-US" sz="2800" dirty="0"/>
          </a:p>
        </p:txBody>
      </p:sp>
      <p:sp>
        <p:nvSpPr>
          <p:cNvPr id="3" name="layer-1"/>
          <p:cNvSpPr/>
          <p:nvPr/>
        </p:nvSpPr>
        <p:spPr>
          <a:xfrm>
            <a:off x="457200" y="114300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4" name="layer-num-1"/>
          <p:cNvSpPr txBox="1"/>
          <p:nvPr/>
        </p:nvSpPr>
        <p:spPr>
          <a:xfrm>
            <a:off x="640080" y="12573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43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User Layer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1430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Customers, restaurants and riders interact through the app</a:t>
            </a:r>
            <a:endParaRPr lang="en-US" sz="1400" dirty="0"/>
          </a:p>
        </p:txBody>
      </p:sp>
      <p:sp>
        <p:nvSpPr>
          <p:cNvPr id="7" name="layer-2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8" name="layer-num-2"/>
          <p:cNvSpPr txBox="1"/>
          <p:nvPr/>
        </p:nvSpPr>
        <p:spPr>
          <a:xfrm>
            <a:off x="640080" y="20345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Application Layer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920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Order, payment and delivery logic validates every request</a:t>
            </a:r>
            <a:endParaRPr lang="en-US" sz="1400" dirty="0"/>
          </a:p>
        </p:txBody>
      </p:sp>
      <p:sp>
        <p:nvSpPr>
          <p:cNvPr id="11" name="layer-3"/>
          <p:cNvSpPr/>
          <p:nvPr/>
        </p:nvSpPr>
        <p:spPr>
          <a:xfrm>
            <a:off x="457200" y="2697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2" name="layer-num-3"/>
          <p:cNvSpPr txBox="1"/>
          <p:nvPr/>
        </p:nvSpPr>
        <p:spPr>
          <a:xfrm>
            <a:off x="640080" y="28117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Database Layer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6974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MySQL tables, triggers, views and procedures store the data</a:t>
            </a:r>
            <a:endParaRPr lang="en-US" sz="1400" dirty="0"/>
          </a:p>
        </p:txBody>
      </p:sp>
      <p:sp>
        <p:nvSpPr>
          <p:cNvPr id="15" name="layer-4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6" name="layer-num-4"/>
          <p:cNvSpPr txBox="1"/>
          <p:nvPr/>
        </p:nvSpPr>
        <p:spPr>
          <a:xfrm>
            <a:off x="640080" y="35890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474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Reporting Layer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474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Revenue, order and top-item reports for management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Separation of responsibilities makes the system easier to maintain and scale.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 Entity Relationship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194560" y="1577340"/>
            <a:ext cx="1554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1577340"/>
            <a:ext cx="1554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965960"/>
            <a:ext cx="0" cy="5486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965960"/>
            <a:ext cx="0" cy="5486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2903220"/>
            <a:ext cx="1554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194560" y="1783080"/>
            <a:ext cx="1554480" cy="10058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194560" y="1874520"/>
            <a:ext cx="1554480" cy="22860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7675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47675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13969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13969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0263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18541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916936"/>
            <a:ext cx="457200" cy="2011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 : N</a:t>
            </a:r>
            <a:endParaRPr lang="en-US" sz="1000" dirty="0"/>
          </a:p>
        </p:txBody>
      </p:sp>
      <p:sp>
        <p:nvSpPr>
          <p:cNvPr id="17" name="er-USERS"/>
          <p:cNvSpPr/>
          <p:nvPr/>
        </p:nvSpPr>
        <p:spPr>
          <a:xfrm>
            <a:off x="548640" y="118872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8" name="er-head-USERS"/>
          <p:cNvSpPr txBox="1"/>
          <p:nvPr/>
        </p:nvSpPr>
        <p:spPr>
          <a:xfrm>
            <a:off x="548640" y="118872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USERS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1554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PK user_id</a:t>
            </a:r>
            <a:endParaRPr lang="en-US" sz="1000" dirty="0"/>
          </a:p>
        </p:txBody>
      </p:sp>
      <p:sp>
        <p:nvSpPr>
          <p:cNvPr id="20" name="er-ORDERS"/>
          <p:cNvSpPr/>
          <p:nvPr/>
        </p:nvSpPr>
        <p:spPr>
          <a:xfrm>
            <a:off x="3749040" y="118872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1" name="er-head-ORDERS"/>
          <p:cNvSpPr txBox="1"/>
          <p:nvPr/>
        </p:nvSpPr>
        <p:spPr>
          <a:xfrm>
            <a:off x="3749040" y="118872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ORDERS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22192" y="1554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PK order_id • FK user_id, restaurant_id</a:t>
            </a:r>
            <a:endParaRPr lang="en-US" sz="1000" dirty="0"/>
          </a:p>
        </p:txBody>
      </p:sp>
      <p:sp>
        <p:nvSpPr>
          <p:cNvPr id="23" name="er-RESTAURANTS"/>
          <p:cNvSpPr/>
          <p:nvPr/>
        </p:nvSpPr>
        <p:spPr>
          <a:xfrm>
            <a:off x="6949440" y="118872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4" name="er-head-RESTAURANTS"/>
          <p:cNvSpPr txBox="1"/>
          <p:nvPr/>
        </p:nvSpPr>
        <p:spPr>
          <a:xfrm>
            <a:off x="6949440" y="118872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RESTAURANTS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1554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PK restaurant_id</a:t>
            </a:r>
            <a:endParaRPr lang="en-US" sz="1000" dirty="0"/>
          </a:p>
        </p:txBody>
      </p:sp>
      <p:sp>
        <p:nvSpPr>
          <p:cNvPr id="26" name="er-ORDER_DETAILS"/>
          <p:cNvSpPr/>
          <p:nvPr/>
        </p:nvSpPr>
        <p:spPr>
          <a:xfrm>
            <a:off x="3749040" y="251460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7" name="er-head-ORDER_DETAILS"/>
          <p:cNvSpPr txBox="1"/>
          <p:nvPr/>
        </p:nvSpPr>
        <p:spPr>
          <a:xfrm>
            <a:off x="3749040" y="251460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ORDER_DETAILS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822192" y="28803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FK order_id + item_id</a:t>
            </a:r>
            <a:endParaRPr lang="en-US" sz="1000" dirty="0"/>
          </a:p>
        </p:txBody>
      </p:sp>
      <p:sp>
        <p:nvSpPr>
          <p:cNvPr id="29" name="er-MENU"/>
          <p:cNvSpPr/>
          <p:nvPr/>
        </p:nvSpPr>
        <p:spPr>
          <a:xfrm>
            <a:off x="6949440" y="251460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0" name="er-head-MENU"/>
          <p:cNvSpPr txBox="1"/>
          <p:nvPr/>
        </p:nvSpPr>
        <p:spPr>
          <a:xfrm>
            <a:off x="6949440" y="251460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MENU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28803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PK item_id • FK restaurant_id</a:t>
            </a:r>
            <a:endParaRPr lang="en-US" sz="1000" dirty="0"/>
          </a:p>
        </p:txBody>
      </p:sp>
      <p:sp>
        <p:nvSpPr>
          <p:cNvPr id="32" name="er-PAYMENTS"/>
          <p:cNvSpPr/>
          <p:nvPr/>
        </p:nvSpPr>
        <p:spPr>
          <a:xfrm>
            <a:off x="548640" y="251460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3" name="er-head-PAYMENTS"/>
          <p:cNvSpPr txBox="1"/>
          <p:nvPr/>
        </p:nvSpPr>
        <p:spPr>
          <a:xfrm>
            <a:off x="548640" y="251460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" y="28803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FK order_id</a:t>
            </a:r>
            <a:endParaRPr lang="en-US" sz="1000" dirty="0"/>
          </a:p>
        </p:txBody>
      </p:sp>
      <p:sp>
        <p:nvSpPr>
          <p:cNvPr id="35" name="er-DELIVERY"/>
          <p:cNvSpPr/>
          <p:nvPr/>
        </p:nvSpPr>
        <p:spPr>
          <a:xfrm>
            <a:off x="548640" y="379476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6" name="er-head-DELIVERY"/>
          <p:cNvSpPr txBox="1"/>
          <p:nvPr/>
        </p:nvSpPr>
        <p:spPr>
          <a:xfrm>
            <a:off x="548640" y="3794760"/>
            <a:ext cx="16459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DELIVERY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416052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FK order_id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PK = Primary Key   •   FK = Foreign Key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 Database Schema</a:t>
            </a:r>
            <a:endParaRPr lang="en-US" sz="2800" dirty="0"/>
          </a:p>
        </p:txBody>
      </p:sp>
      <p:sp>
        <p:nvSpPr>
          <p:cNvPr id="3" name="schema-card-USERS"/>
          <p:cNvSpPr/>
          <p:nvPr/>
        </p:nvSpPr>
        <p:spPr>
          <a:xfrm>
            <a:off x="457200" y="114300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chema-head-USERS"/>
          <p:cNvSpPr txBox="1"/>
          <p:nvPr/>
        </p:nvSpPr>
        <p:spPr>
          <a:xfrm>
            <a:off x="530352" y="121615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USERS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user_id (PK)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account details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contact details</a:t>
            </a:r>
            <a:endParaRPr lang="en-US" sz="1200" dirty="0"/>
          </a:p>
        </p:txBody>
      </p:sp>
      <p:sp>
        <p:nvSpPr>
          <p:cNvPr id="6" name="schema-card-RESTAURANTS"/>
          <p:cNvSpPr/>
          <p:nvPr/>
        </p:nvSpPr>
        <p:spPr>
          <a:xfrm>
            <a:off x="2560320" y="114300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7" name="schema-head-RESTAURANTS"/>
          <p:cNvSpPr txBox="1"/>
          <p:nvPr/>
        </p:nvSpPr>
        <p:spPr>
          <a:xfrm>
            <a:off x="2633472" y="121615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RESTAURANTS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16459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restaurant_id (PK)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restaurant_name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open status</a:t>
            </a:r>
            <a:endParaRPr lang="en-US" sz="1200" dirty="0"/>
          </a:p>
        </p:txBody>
      </p:sp>
      <p:sp>
        <p:nvSpPr>
          <p:cNvPr id="9" name="schema-card-MENU"/>
          <p:cNvSpPr/>
          <p:nvPr/>
        </p:nvSpPr>
        <p:spPr>
          <a:xfrm>
            <a:off x="4663440" y="114300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schema-head-MENU"/>
          <p:cNvSpPr txBox="1"/>
          <p:nvPr/>
        </p:nvSpPr>
        <p:spPr>
          <a:xfrm>
            <a:off x="4736592" y="121615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MENU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6459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item_id (PK)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restaurant_id (FK)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price • availability</a:t>
            </a:r>
            <a:endParaRPr lang="en-US" sz="1200" dirty="0"/>
          </a:p>
        </p:txBody>
      </p:sp>
      <p:sp>
        <p:nvSpPr>
          <p:cNvPr id="12" name="schema-card-ORDERS"/>
          <p:cNvSpPr/>
          <p:nvPr/>
        </p:nvSpPr>
        <p:spPr>
          <a:xfrm>
            <a:off x="6766560" y="114300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3" name="schema-head-ORDERS"/>
          <p:cNvSpPr txBox="1"/>
          <p:nvPr/>
        </p:nvSpPr>
        <p:spPr>
          <a:xfrm>
            <a:off x="6839712" y="121615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ORDERS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16459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order_id (PK)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user_id • restaurant_id (FK)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date • status • total_amount</a:t>
            </a:r>
            <a:endParaRPr lang="en-US" sz="1200" dirty="0"/>
          </a:p>
        </p:txBody>
      </p:sp>
      <p:sp>
        <p:nvSpPr>
          <p:cNvPr id="15" name="schema-card-ORDER_DETAILS"/>
          <p:cNvSpPr/>
          <p:nvPr/>
        </p:nvSpPr>
        <p:spPr>
          <a:xfrm>
            <a:off x="457200" y="29260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schema-head-ORDER_DETAILS"/>
          <p:cNvSpPr txBox="1"/>
          <p:nvPr/>
        </p:nvSpPr>
        <p:spPr>
          <a:xfrm>
            <a:off x="530352" y="299923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ORDER_DETAILS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290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order_id + item_id (FK)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quantity • price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subtotal</a:t>
            </a:r>
            <a:endParaRPr lang="en-US" sz="1200" dirty="0"/>
          </a:p>
        </p:txBody>
      </p:sp>
      <p:sp>
        <p:nvSpPr>
          <p:cNvPr id="18" name="schema-card-PAYMENTS"/>
          <p:cNvSpPr/>
          <p:nvPr/>
        </p:nvSpPr>
        <p:spPr>
          <a:xfrm>
            <a:off x="2560320" y="29260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schema-head-PAYMENTS"/>
          <p:cNvSpPr txBox="1"/>
          <p:nvPr/>
        </p:nvSpPr>
        <p:spPr>
          <a:xfrm>
            <a:off x="2633472" y="299923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PAYMENTS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70048" y="34290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order_id (FK)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payment method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amount</a:t>
            </a:r>
            <a:endParaRPr lang="en-US" sz="1200" dirty="0"/>
          </a:p>
        </p:txBody>
      </p:sp>
      <p:sp>
        <p:nvSpPr>
          <p:cNvPr id="21" name="schema-card-DELIVERY"/>
          <p:cNvSpPr/>
          <p:nvPr/>
        </p:nvSpPr>
        <p:spPr>
          <a:xfrm>
            <a:off x="4663440" y="29260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schema-head-DELIVERY"/>
          <p:cNvSpPr txBox="1"/>
          <p:nvPr/>
        </p:nvSpPr>
        <p:spPr>
          <a:xfrm>
            <a:off x="4736592" y="2999232"/>
            <a:ext cx="1773936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DELIVERY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34290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order_id (FK)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rider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delivery status</a:t>
            </a:r>
            <a:endParaRPr lang="en-US" sz="1200" dirty="0"/>
          </a:p>
        </p:txBody>
      </p:sp>
      <p:sp>
        <p:nvSpPr>
          <p:cNvPr id="24" name="schema-legend"/>
          <p:cNvSpPr/>
          <p:nvPr/>
        </p:nvSpPr>
        <p:spPr>
          <a:xfrm>
            <a:off x="6766560" y="29260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3108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Legend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PK = Primary Key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FK = Foreign Key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7. Key Relationships</a:t>
            </a:r>
            <a:endParaRPr lang="en-US" sz="2800" dirty="0"/>
          </a:p>
        </p:txBody>
      </p:sp>
      <p:sp>
        <p:nvSpPr>
          <p:cNvPr id="3" name="relationship-card-1"/>
          <p:cNvSpPr/>
          <p:nvPr/>
        </p:nvSpPr>
        <p:spPr>
          <a:xfrm>
            <a:off x="45720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USERS → ORDERS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orders.user_id → users.user_id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Cardinality: 1 : N</a:t>
            </a:r>
            <a:endParaRPr lang="en-US" sz="1400" dirty="0"/>
          </a:p>
        </p:txBody>
      </p:sp>
      <p:sp>
        <p:nvSpPr>
          <p:cNvPr id="5" name="relationship-card-2"/>
          <p:cNvSpPr/>
          <p:nvPr/>
        </p:nvSpPr>
        <p:spPr>
          <a:xfrm>
            <a:off x="466344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00600" y="1234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RESTAURANTS → MENU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menu.restaurant_id → restaurants.restaurant_id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Cardinality: 1 : N</a:t>
            </a:r>
            <a:endParaRPr lang="en-US" sz="1400" dirty="0"/>
          </a:p>
        </p:txBody>
      </p:sp>
      <p:sp>
        <p:nvSpPr>
          <p:cNvPr id="7" name="relationship-card-3"/>
          <p:cNvSpPr/>
          <p:nvPr/>
        </p:nvSpPr>
        <p:spPr>
          <a:xfrm>
            <a:off x="457200" y="2286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RESTAURANTS → ORDERS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orders.restaurant_id → restaurants.restaurant_id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Cardinality: 1 : N</a:t>
            </a:r>
            <a:endParaRPr lang="en-US" sz="1400" dirty="0"/>
          </a:p>
        </p:txBody>
      </p:sp>
      <p:sp>
        <p:nvSpPr>
          <p:cNvPr id="9" name="relationship-card-4"/>
          <p:cNvSpPr/>
          <p:nvPr/>
        </p:nvSpPr>
        <p:spPr>
          <a:xfrm>
            <a:off x="4663440" y="2286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ORDERS → ORDER_DETAILS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order_details.order_id → orders.order_id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Cardinality: 1 : N</a:t>
            </a:r>
            <a:endParaRPr lang="en-US" sz="1400" dirty="0"/>
          </a:p>
        </p:txBody>
      </p:sp>
      <p:sp>
        <p:nvSpPr>
          <p:cNvPr id="11" name="relationship-card-5"/>
          <p:cNvSpPr/>
          <p:nvPr/>
        </p:nvSpPr>
        <p:spPr>
          <a:xfrm>
            <a:off x="457200" y="3429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MENU → ORDER_DETAILS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order_details.item_id → menu.item_id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Cardinality: 1 : N</a:t>
            </a:r>
            <a:endParaRPr lang="en-US" sz="1400" dirty="0"/>
          </a:p>
        </p:txBody>
      </p:sp>
      <p:sp>
        <p:nvSpPr>
          <p:cNvPr id="13" name="relationship-card-6"/>
          <p:cNvSpPr/>
          <p:nvPr/>
        </p:nvSpPr>
        <p:spPr>
          <a:xfrm>
            <a:off x="4663440" y="342900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ORDERS → PAYMENTS • DELIVERY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payments.order_id, delivery.order_id → orders.order_id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Each record is linked to its order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8. Many-to-Many &amp; Normalization</a:t>
            </a:r>
            <a:endParaRPr lang="en-US" sz="2800" dirty="0"/>
          </a:p>
        </p:txBody>
      </p:sp>
      <p:sp>
        <p:nvSpPr>
          <p:cNvPr id="3" name="m2m-ORDERS"/>
          <p:cNvSpPr/>
          <p:nvPr/>
        </p:nvSpPr>
        <p:spPr>
          <a:xfrm>
            <a:off x="457200" y="11430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ORDERS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One order, many items</a:t>
            </a:r>
            <a:endParaRPr lang="en-US" sz="1400" dirty="0"/>
          </a:p>
        </p:txBody>
      </p:sp>
      <p:sp>
        <p:nvSpPr>
          <p:cNvPr id="5" name="m2m-ORDER_DETAILS"/>
          <p:cNvSpPr/>
          <p:nvPr/>
        </p:nvSpPr>
        <p:spPr>
          <a:xfrm>
            <a:off x="3474720" y="11430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66160" y="1143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ORDER_DETAILS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Bridge: quantity, price, subtotal</a:t>
            </a:r>
            <a:endParaRPr lang="en-US" sz="1400" dirty="0"/>
          </a:p>
        </p:txBody>
      </p:sp>
      <p:sp>
        <p:nvSpPr>
          <p:cNvPr id="7" name="m2m-MENU"/>
          <p:cNvSpPr/>
          <p:nvPr/>
        </p:nvSpPr>
        <p:spPr>
          <a:xfrm>
            <a:off x="6492240" y="11430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143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MENU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One item, many orders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577340"/>
            <a:ext cx="8229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77340"/>
            <a:ext cx="8229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Orders (1) → Order_Details (Many) ← Menu (Many): a many-to-many relationship becomes two manageable one-to-many links.</a:t>
            </a:r>
            <a:endParaRPr lang="en-US" sz="1300" dirty="0"/>
          </a:p>
        </p:txBody>
      </p:sp>
      <p:sp>
        <p:nvSpPr>
          <p:cNvPr id="12" name="nf-card-1NF"/>
          <p:cNvSpPr/>
          <p:nvPr/>
        </p:nvSpPr>
        <p:spPr>
          <a:xfrm>
            <a:off x="457200" y="269748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Atomic values, no repeating groups</a:t>
            </a:r>
            <a:endParaRPr lang="en-US" sz="2400" dirty="0"/>
          </a:p>
        </p:txBody>
      </p:sp>
      <p:sp>
        <p:nvSpPr>
          <p:cNvPr id="14" name="nf-card-2NF"/>
          <p:cNvSpPr/>
          <p:nvPr/>
        </p:nvSpPr>
        <p:spPr>
          <a:xfrm>
            <a:off x="3246120" y="269748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 partial dependency on a composite key</a:t>
            </a:r>
            <a:endParaRPr lang="en-US" sz="2400" dirty="0"/>
          </a:p>
        </p:txBody>
      </p:sp>
      <p:sp>
        <p:nvSpPr>
          <p:cNvPr id="16" name="nf-card-3NF"/>
          <p:cNvSpPr/>
          <p:nvPr/>
        </p:nvSpPr>
        <p:spPr>
          <a:xfrm>
            <a:off x="6035040" y="269748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 transitive dependency between non-key fields</a:t>
            </a:r>
            <a:endParaRPr lang="en-US" sz="2400" dirty="0"/>
          </a:p>
        </p:txBody>
      </p:sp>
      <p:sp>
        <p:nvSpPr>
          <p:cNvPr id="18" name="nf-result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seven tables follow 3NF: every fact is stored once and updates stay consistent.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9. Implementation &amp; Verification</a:t>
            </a:r>
            <a:endParaRPr lang="en-US" sz="2800" dirty="0"/>
          </a:p>
        </p:txBody>
      </p:sp>
      <p:sp>
        <p:nvSpPr>
          <p:cNvPr id="3" name="impl-step-1"/>
          <p:cNvSpPr/>
          <p:nvPr/>
        </p:nvSpPr>
        <p:spPr>
          <a:xfrm>
            <a:off x="457200" y="1188720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impl-num-1"/>
          <p:cNvSpPr txBox="1"/>
          <p:nvPr/>
        </p:nvSpPr>
        <p:spPr>
          <a:xfrm>
            <a:off x="685800" y="14401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80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Create the database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 the database and select the schema.</a:t>
            </a:r>
            <a:endParaRPr lang="en-US" sz="1500" dirty="0"/>
          </a:p>
        </p:txBody>
      </p:sp>
      <p:sp>
        <p:nvSpPr>
          <p:cNvPr id="6" name="impl-step-2"/>
          <p:cNvSpPr/>
          <p:nvPr/>
        </p:nvSpPr>
        <p:spPr>
          <a:xfrm>
            <a:off x="457200" y="2286000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impl-num-2"/>
          <p:cNvSpPr txBox="1"/>
          <p:nvPr/>
        </p:nvSpPr>
        <p:spPr>
          <a:xfrm>
            <a:off x="685800" y="25374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Create the tables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 tables in dependency order: parents before children.</a:t>
            </a:r>
            <a:endParaRPr lang="en-US" sz="1500" dirty="0"/>
          </a:p>
        </p:txBody>
      </p:sp>
      <p:sp>
        <p:nvSpPr>
          <p:cNvPr id="9" name="impl-step-3"/>
          <p:cNvSpPr/>
          <p:nvPr/>
        </p:nvSpPr>
        <p:spPr>
          <a:xfrm>
            <a:off x="457200" y="3383280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impl-num-3"/>
          <p:cNvSpPr txBox="1"/>
          <p:nvPr/>
        </p:nvSpPr>
        <p:spPr>
          <a:xfrm>
            <a:off x="685800" y="36347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74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Insert and verify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Insert sample data for all seven tables, then verify.</a:t>
            </a:r>
            <a:endParaRPr lang="en-US" sz="1500" dirty="0"/>
          </a:p>
        </p:txBody>
      </p:sp>
      <p:sp>
        <p:nvSpPr>
          <p:cNvPr id="12" name="verify-panel"/>
          <p:cNvSpPr/>
          <p:nvPr/>
        </p:nvSpPr>
        <p:spPr>
          <a:xfrm>
            <a:off x="4846320" y="1188720"/>
            <a:ext cx="384048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6916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restaurants;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menu;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orders;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order_details;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payments;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delivery;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Automatic Order Calculation</a:t>
            </a:r>
            <a:endParaRPr lang="en-US" sz="2800" dirty="0"/>
          </a:p>
        </p:txBody>
      </p:sp>
      <p:sp>
        <p:nvSpPr>
          <p:cNvPr id="3" name="trigger-step-1"/>
          <p:cNvSpPr/>
          <p:nvPr/>
        </p:nvSpPr>
        <p:spPr>
          <a:xfrm>
            <a:off x="457200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ADD ITEM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quantity + price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50008" y="18745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rigger-step-2"/>
          <p:cNvSpPr/>
          <p:nvPr/>
        </p:nvSpPr>
        <p:spPr>
          <a:xfrm>
            <a:off x="2587752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24912" y="12801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BEFORE INSERT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calculate subtotal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trigger-step-3"/>
          <p:cNvSpPr/>
          <p:nvPr/>
        </p:nvSpPr>
        <p:spPr>
          <a:xfrm>
            <a:off x="4718304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55464" y="12801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ORDER TOTAL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sum all subtotals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611112" y="18745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rigger-step-4"/>
          <p:cNvSpPr/>
          <p:nvPr/>
        </p:nvSpPr>
        <p:spPr>
          <a:xfrm>
            <a:off x="6848856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86016" y="12801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REPORT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accurate totals</a:t>
            </a:r>
            <a:endParaRPr lang="en-US" sz="2200" dirty="0"/>
          </a:p>
        </p:txBody>
      </p:sp>
      <p:sp>
        <p:nvSpPr>
          <p:cNvPr id="14" name="trigger-example"/>
          <p:cNvSpPr/>
          <p:nvPr/>
        </p:nvSpPr>
        <p:spPr>
          <a:xfrm>
            <a:off x="457200" y="2834640"/>
            <a:ext cx="5303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× Rs. 500 = Rs. 1,000 subtotal → the trigger updates the order total automatically.</a:t>
            </a:r>
            <a:endParaRPr lang="en-US" sz="1400" dirty="0"/>
          </a:p>
        </p:txBody>
      </p:sp>
      <p:sp>
        <p:nvSpPr>
          <p:cNvPr id="16" name="trigger-stat"/>
          <p:cNvSpPr/>
          <p:nvPr/>
        </p:nvSpPr>
        <p:spPr>
          <a:xfrm>
            <a:off x="5943600" y="28346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triggers: INSERT, UPDATE, DELETE and closed-restaurant checks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11. Views &amp; Stored Procedures</a:t>
            </a:r>
            <a:endParaRPr lang="en-US" sz="2800" dirty="0"/>
          </a:p>
        </p:txBody>
      </p:sp>
      <p:sp>
        <p:nvSpPr>
          <p:cNvPr id="3" name="bl-panel-0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bl-head-0"/>
          <p:cNvSpPr txBox="1"/>
          <p:nvPr/>
        </p:nvSpPr>
        <p:spPr>
          <a:xfrm>
            <a:off x="594360" y="1280160"/>
            <a:ext cx="374904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VIEWS • READ / REPORT</a:t>
            </a:r>
            <a:endParaRPr lang="en-US" sz="1300" dirty="0"/>
          </a:p>
        </p:txBody>
      </p:sp>
      <p:sp>
        <p:nvSpPr>
          <p:cNvPr id="5" name="bl-num-0-0"/>
          <p:cNvSpPr txBox="1"/>
          <p:nvPr/>
        </p:nvSpPr>
        <p:spPr>
          <a:xfrm>
            <a:off x="649224" y="18105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vw_order_summary</a:t>
            </a:r>
            <a:endParaRPr lang="en-US" sz="1400" dirty="0"/>
          </a:p>
        </p:txBody>
      </p:sp>
      <p:sp>
        <p:nvSpPr>
          <p:cNvPr id="7" name="bl-num-0-1"/>
          <p:cNvSpPr txBox="1"/>
          <p:nvPr/>
        </p:nvSpPr>
        <p:spPr>
          <a:xfrm>
            <a:off x="649224" y="234086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13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vw_restaurant_revenue</a:t>
            </a:r>
            <a:endParaRPr lang="en-US" sz="1400" dirty="0"/>
          </a:p>
        </p:txBody>
      </p:sp>
      <p:sp>
        <p:nvSpPr>
          <p:cNvPr id="9" name="bl-num-0-2"/>
          <p:cNvSpPr txBox="1"/>
          <p:nvPr/>
        </p:nvSpPr>
        <p:spPr>
          <a:xfrm>
            <a:off x="649224" y="287121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437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vw_top_menu_items</a:t>
            </a:r>
            <a:endParaRPr lang="en-US" sz="1400" dirty="0"/>
          </a:p>
        </p:txBody>
      </p:sp>
      <p:sp>
        <p:nvSpPr>
          <p:cNvPr id="11" name="bl-num-0-3"/>
          <p:cNvSpPr txBox="1"/>
          <p:nvPr/>
        </p:nvSpPr>
        <p:spPr>
          <a:xfrm>
            <a:off x="649224" y="340156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74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vw_pending_deliveries</a:t>
            </a:r>
            <a:endParaRPr lang="en-US" sz="1400" dirty="0"/>
          </a:p>
        </p:txBody>
      </p:sp>
      <p:sp>
        <p:nvSpPr>
          <p:cNvPr id="13" name="bl-num-0-4"/>
          <p:cNvSpPr txBox="1"/>
          <p:nvPr/>
        </p:nvSpPr>
        <p:spPr>
          <a:xfrm>
            <a:off x="649224" y="39319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044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vw_menu_catalogue</a:t>
            </a:r>
            <a:endParaRPr lang="en-US" sz="1400" dirty="0"/>
          </a:p>
        </p:txBody>
      </p:sp>
      <p:sp>
        <p:nvSpPr>
          <p:cNvPr id="15" name="bl-panel-1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6" name="bl-head-1"/>
          <p:cNvSpPr txBox="1"/>
          <p:nvPr/>
        </p:nvSpPr>
        <p:spPr>
          <a:xfrm>
            <a:off x="4800600" y="1280160"/>
            <a:ext cx="374904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STORED PROCEDURES • ACTION</a:t>
            </a:r>
            <a:endParaRPr lang="en-US" sz="1300" dirty="0"/>
          </a:p>
        </p:txBody>
      </p:sp>
      <p:sp>
        <p:nvSpPr>
          <p:cNvPr id="17" name="bl-num-1-0"/>
          <p:cNvSpPr txBox="1"/>
          <p:nvPr/>
        </p:nvSpPr>
        <p:spPr>
          <a:xfrm>
            <a:off x="4855464" y="1810512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7830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Place order</a:t>
            </a:r>
            <a:endParaRPr lang="en-US" sz="1400" dirty="0"/>
          </a:p>
        </p:txBody>
      </p:sp>
      <p:sp>
        <p:nvSpPr>
          <p:cNvPr id="19" name="bl-num-1-1"/>
          <p:cNvSpPr txBox="1"/>
          <p:nvPr/>
        </p:nvSpPr>
        <p:spPr>
          <a:xfrm>
            <a:off x="4855464" y="2340864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313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order item</a:t>
            </a:r>
            <a:endParaRPr lang="en-US" sz="1400" dirty="0"/>
          </a:p>
        </p:txBody>
      </p:sp>
      <p:sp>
        <p:nvSpPr>
          <p:cNvPr id="21" name="bl-num-1-2"/>
          <p:cNvSpPr txBox="1"/>
          <p:nvPr/>
        </p:nvSpPr>
        <p:spPr>
          <a:xfrm>
            <a:off x="4855464" y="2871216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8437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order history</a:t>
            </a:r>
            <a:endParaRPr lang="en-US" sz="1400" dirty="0"/>
          </a:p>
        </p:txBody>
      </p:sp>
      <p:sp>
        <p:nvSpPr>
          <p:cNvPr id="23" name="bl-num-1-3"/>
          <p:cNvSpPr txBox="1"/>
          <p:nvPr/>
        </p:nvSpPr>
        <p:spPr>
          <a:xfrm>
            <a:off x="4855464" y="3401568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374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Update order status</a:t>
            </a:r>
            <a:endParaRPr lang="en-US" sz="1400" dirty="0"/>
          </a:p>
        </p:txBody>
      </p:sp>
      <p:sp>
        <p:nvSpPr>
          <p:cNvPr id="25" name="bl-num-1-4"/>
          <p:cNvSpPr txBox="1"/>
          <p:nvPr/>
        </p:nvSpPr>
        <p:spPr>
          <a:xfrm>
            <a:off x="4855464" y="3931920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9044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Restaurant revenue report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SQL Reporting &amp; Revenue Analysis</a:t>
            </a:r>
            <a:endParaRPr lang="en-US" sz="2800" dirty="0"/>
          </a:p>
        </p:txBody>
      </p:sp>
      <p:sp>
        <p:nvSpPr>
          <p:cNvPr id="3" name="query-panel"/>
          <p:cNvSpPr/>
          <p:nvPr/>
        </p:nvSpPr>
        <p:spPr>
          <a:xfrm>
            <a:off x="457200" y="1143000"/>
            <a:ext cx="429768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Query flow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r.restaurant_name,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COUNT(o.order_id) AS orders,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SUM(o.total_amount) AS revenue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restaurants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o.restaurant_id = r.restaurant_id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r.restaurant_name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Concepts: JOIN • COUNT() • SUM() • GROUP BY • ORDER BY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43000"/>
          <a:ext cx="3657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Restaurant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Orders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Revenue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Monal Restaurant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Rs. 6,880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Pizza Max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Rs. 3,800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Hardee's Karachi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Rs. 3,690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porting-insight"/>
          <p:cNvSpPr/>
          <p:nvPr/>
        </p:nvSpPr>
        <p:spPr>
          <a:xfrm>
            <a:off x="5029200" y="2926080"/>
            <a:ext cx="3657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0" y="3063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Business value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Helps management compare restaurants, understand sales performance and spot top performers.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13. Business Questions Answered</a:t>
            </a:r>
            <a:endParaRPr lang="en-US" sz="2800" dirty="0"/>
          </a:p>
        </p:txBody>
      </p:sp>
      <p:sp>
        <p:nvSpPr>
          <p:cNvPr id="3" name="question-card-Customers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Customers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is each customer's order history?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Who placed which orders?</a:t>
            </a:r>
            <a:endParaRPr lang="en-US" sz="1500" dirty="0"/>
          </a:p>
        </p:txBody>
      </p:sp>
      <p:sp>
        <p:nvSpPr>
          <p:cNvPr id="5" name="question-card-Restaurants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83280" y="1280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Restaurants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Which restaurants earn the most revenue?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Which restaurants are open?</a:t>
            </a:r>
            <a:endParaRPr lang="en-US" sz="1500" dirty="0"/>
          </a:p>
        </p:txBody>
      </p:sp>
      <p:sp>
        <p:nvSpPr>
          <p:cNvPr id="7" name="question-card-Menu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280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Menu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Which menu items sell the most?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is currently available?</a:t>
            </a:r>
            <a:endParaRPr lang="en-US" sz="1500" dirty="0"/>
          </a:p>
        </p:txBody>
      </p:sp>
      <p:sp>
        <p:nvSpPr>
          <p:cNvPr id="9" name="question-card-Orders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Orders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does each order contain?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is the current order status?</a:t>
            </a:r>
            <a:endParaRPr lang="en-US" sz="1500" dirty="0"/>
          </a:p>
        </p:txBody>
      </p:sp>
      <p:sp>
        <p:nvSpPr>
          <p:cNvPr id="11" name="question-card-Payments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Payments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How was each order paid?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amount was paid?</a:t>
            </a:r>
            <a:endParaRPr lang="en-US" sz="1500" dirty="0"/>
          </a:p>
        </p:txBody>
      </p:sp>
      <p:sp>
        <p:nvSpPr>
          <p:cNvPr id="13" name="question-card-Delivery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Delivery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Which deliveries are still pending?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Which rider is on which order?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14. Data Integrity &amp; Performance</a:t>
            </a:r>
            <a:endParaRPr lang="en-US" sz="2800" dirty="0"/>
          </a:p>
        </p:txBody>
      </p:sp>
      <p:sp>
        <p:nvSpPr>
          <p:cNvPr id="3" name="integrity-card-1"/>
          <p:cNvSpPr/>
          <p:nvPr/>
        </p:nvSpPr>
        <p:spPr>
          <a:xfrm>
            <a:off x="457200" y="114300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PRIMARY KEY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Uniquely identifies each record, e.g. user_id and order_id.</a:t>
            </a:r>
            <a:endParaRPr lang="en-US" sz="1500" dirty="0"/>
          </a:p>
        </p:txBody>
      </p:sp>
      <p:sp>
        <p:nvSpPr>
          <p:cNvPr id="5" name="integrity-card-2"/>
          <p:cNvSpPr/>
          <p:nvPr/>
        </p:nvSpPr>
        <p:spPr>
          <a:xfrm>
            <a:off x="4663440" y="114300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FOREIGN KEY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Links child tables to parents and blocks orphan records.</a:t>
            </a:r>
            <a:endParaRPr lang="en-US" sz="1500" dirty="0"/>
          </a:p>
        </p:txBody>
      </p:sp>
      <p:sp>
        <p:nvSpPr>
          <p:cNvPr id="7" name="integrity-card-3"/>
          <p:cNvSpPr/>
          <p:nvPr/>
        </p:nvSpPr>
        <p:spPr>
          <a:xfrm>
            <a:off x="457200" y="251460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CONSTRAINTS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 NULL, UNIQUE and CHECK rules keep invalid data out.</a:t>
            </a:r>
            <a:endParaRPr lang="en-US" sz="1500" dirty="0"/>
          </a:p>
        </p:txBody>
      </p:sp>
      <p:sp>
        <p:nvSpPr>
          <p:cNvPr id="9" name="integrity-card-4"/>
          <p:cNvSpPr/>
          <p:nvPr/>
        </p:nvSpPr>
        <p:spPr>
          <a:xfrm>
            <a:off x="4663440" y="251460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651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INDEXES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 up filtering, joins and report queries.</a:t>
            </a:r>
            <a:endParaRPr lang="en-US" sz="1500" dirty="0"/>
          </a:p>
        </p:txBody>
      </p:sp>
      <p:sp>
        <p:nvSpPr>
          <p:cNvPr id="11" name="design-principle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DESIGN PRINCIPLE   </a:t>
            </a:r>
            <a:r>
              <a:rPr lang="en-US" sz="1400" b="1" dirty="0">
                <a:solidFill>
                  <a:schemeClr val="bg1"/>
                </a:solidFill>
              </a:rPr>
              <a:t>Correct data first → then faster queries → then useful reports.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15. End-to-End Project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IMPLEMENTATION FLOW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43000" y="1645920"/>
            <a:ext cx="68580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" name="flow-num-1"/>
          <p:cNvSpPr txBox="1"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CREATE DATABASE</a:t>
            </a:r>
            <a:endParaRPr lang="en-US" sz="1200" dirty="0"/>
          </a:p>
        </p:txBody>
      </p:sp>
      <p:sp>
        <p:nvSpPr>
          <p:cNvPr id="7" name="flow-num-2"/>
          <p:cNvSpPr txBox="1"/>
          <p:nvPr/>
        </p:nvSpPr>
        <p:spPr>
          <a:xfrm>
            <a:off x="22402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CREATE TABLES</a:t>
            </a:r>
            <a:endParaRPr lang="en-US" sz="1200" dirty="0"/>
          </a:p>
        </p:txBody>
      </p:sp>
      <p:sp>
        <p:nvSpPr>
          <p:cNvPr id="9" name="flow-num-3"/>
          <p:cNvSpPr txBox="1"/>
          <p:nvPr/>
        </p:nvSpPr>
        <p:spPr>
          <a:xfrm>
            <a:off x="36118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INSERT DATA</a:t>
            </a:r>
            <a:endParaRPr lang="en-US" sz="1200" dirty="0"/>
          </a:p>
        </p:txBody>
      </p:sp>
      <p:sp>
        <p:nvSpPr>
          <p:cNvPr id="11" name="flow-num-4"/>
          <p:cNvSpPr txBox="1"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CREATE TRIGGERS</a:t>
            </a:r>
            <a:endParaRPr lang="en-US" sz="1200" dirty="0"/>
          </a:p>
        </p:txBody>
      </p:sp>
      <p:sp>
        <p:nvSpPr>
          <p:cNvPr id="13" name="flow-num-5"/>
          <p:cNvSpPr txBox="1"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CREATE VIEWS</a:t>
            </a:r>
            <a:endParaRPr lang="en-US" sz="1200" dirty="0"/>
          </a:p>
        </p:txBody>
      </p:sp>
      <p:sp>
        <p:nvSpPr>
          <p:cNvPr id="15" name="flow-num-6"/>
          <p:cNvSpPr txBox="1"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CALL PROCEDURES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BUSINESS FLOW</a:t>
            </a:r>
            <a:endParaRPr lang="en-US" sz="1200" dirty="0"/>
          </a:p>
        </p:txBody>
      </p:sp>
      <p:sp>
        <p:nvSpPr>
          <p:cNvPr id="18" name="biz-chip-Customer"/>
          <p:cNvSpPr txBox="1"/>
          <p:nvPr/>
        </p:nvSpPr>
        <p:spPr>
          <a:xfrm>
            <a:off x="457200" y="283464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72768" y="3040380"/>
            <a:ext cx="23774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biz-chip-Restaurant"/>
          <p:cNvSpPr txBox="1"/>
          <p:nvPr/>
        </p:nvSpPr>
        <p:spPr>
          <a:xfrm>
            <a:off x="1828800" y="283464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Restaurant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44368" y="3040380"/>
            <a:ext cx="23774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biz-chip-Order"/>
          <p:cNvSpPr txBox="1"/>
          <p:nvPr/>
        </p:nvSpPr>
        <p:spPr>
          <a:xfrm>
            <a:off x="3200400" y="283464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Order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3040380"/>
            <a:ext cx="23774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biz-chip-Payment"/>
          <p:cNvSpPr txBox="1"/>
          <p:nvPr/>
        </p:nvSpPr>
        <p:spPr>
          <a:xfrm>
            <a:off x="4572000" y="283464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87568" y="3040380"/>
            <a:ext cx="23774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biz-chip-Delivery"/>
          <p:cNvSpPr txBox="1"/>
          <p:nvPr/>
        </p:nvSpPr>
        <p:spPr>
          <a:xfrm>
            <a:off x="5943600" y="283464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Delivery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59168" y="3040380"/>
            <a:ext cx="23774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biz-chip-Report"/>
          <p:cNvSpPr txBox="1"/>
          <p:nvPr/>
        </p:nvSpPr>
        <p:spPr>
          <a:xfrm>
            <a:off x="7315200" y="2834640"/>
            <a:ext cx="109728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Report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Example: a customer orders two items → Order_Details stores each item → the trigger calculates the subtotal → the order total updates automatically.</a:t>
            </a:r>
            <a:endParaRPr lang="en-US" sz="1300" dirty="0"/>
          </a:p>
        </p:txBody>
      </p:sp>
      <p:sp>
        <p:nvSpPr>
          <p:cNvPr id="30" name="final-demo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FINAL DEMO   </a:t>
            </a:r>
            <a:r>
              <a:rPr lang="en-US" sz="1400" dirty="0">
                <a:solidFill>
                  <a:schemeClr val="bg1"/>
                </a:solidFill>
              </a:rPr>
              <a:t>SHOW TABLES → SELECT orders → test trigger → open view → CALL procedure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16. Results &amp; Key Outcomes</a:t>
            </a:r>
            <a:endParaRPr lang="en-US" sz="2800" dirty="0"/>
          </a:p>
        </p:txBody>
      </p:sp>
      <p:sp>
        <p:nvSpPr>
          <p:cNvPr id="3" name="outcome-card-1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outcome-head-1"/>
          <p:cNvSpPr txBox="1"/>
          <p:nvPr/>
        </p:nvSpPr>
        <p:spPr>
          <a:xfrm>
            <a:off x="548640" y="1234440"/>
            <a:ext cx="24688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Database Outcome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7 relational tables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PK/FK relationships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3NF design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Many-to-many resolved with Order_Details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NOT NULL, UNIQUE and CHECK rules</a:t>
            </a:r>
            <a:endParaRPr lang="en-US" sz="1400" dirty="0"/>
          </a:p>
        </p:txBody>
      </p:sp>
      <p:sp>
        <p:nvSpPr>
          <p:cNvPr id="6" name="outcome-card-2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outcome-head-2"/>
          <p:cNvSpPr txBox="1"/>
          <p:nvPr/>
        </p:nvSpPr>
        <p:spPr>
          <a:xfrm>
            <a:off x="3337560" y="1234440"/>
            <a:ext cx="24688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Automation &amp; Reporting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6 triggers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5 views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5 stored procedures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Automatic order totals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Revenue and top-item reports</a:t>
            </a:r>
            <a:endParaRPr lang="en-US" sz="1400" dirty="0"/>
          </a:p>
        </p:txBody>
      </p:sp>
      <p:sp>
        <p:nvSpPr>
          <p:cNvPr id="9" name="outcome-card-3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outcome-head-3"/>
          <p:cNvSpPr txBox="1"/>
          <p:nvPr/>
        </p:nvSpPr>
        <p:spPr>
          <a:xfrm>
            <a:off x="6126480" y="1234440"/>
            <a:ext cx="24688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Technical Skills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ER modeling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Normalization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DDL, DML and DQL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Joins and aggregates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</a:t>
            </a:r>
            <a:r>
              <a:rPr lang="en-US" sz="1400" dirty="0">
                <a:solidFill>
                  <a:schemeClr val="tx1"/>
                </a:solidFill>
              </a:rPr>
              <a:t>Triggers and procedures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This Project Demonstrates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 complete, normalized MySQL database for a food-delivery platform, with triggers, views and procedures that automate order totals and turn order, payment and delivery data into business reports.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Key learning: database design + SQL + automation.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MySQL • Database Design • Automation</a:t>
            </a:r>
            <a:endParaRPr lang="en-US" sz="1800" dirty="0"/>
          </a:p>
        </p:txBody>
      </p:sp>
      <p:sp>
        <p:nvSpPr>
          <p:cNvPr id="4" name="stat-tile-Tables"/>
          <p:cNvSpPr/>
          <p:nvPr/>
        </p:nvSpPr>
        <p:spPr>
          <a:xfrm>
            <a:off x="5577840" y="118872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577840" y="1371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Tables</a:t>
            </a:r>
            <a:endParaRPr lang="en-US" sz="3200" dirty="0"/>
          </a:p>
        </p:txBody>
      </p:sp>
      <p:sp>
        <p:nvSpPr>
          <p:cNvPr id="6" name="stat-tile-Design"/>
          <p:cNvSpPr/>
          <p:nvPr/>
        </p:nvSpPr>
        <p:spPr>
          <a:xfrm>
            <a:off x="7223760" y="118872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0" y="1371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Design</a:t>
            </a:r>
            <a:endParaRPr lang="en-US" sz="3200" dirty="0"/>
          </a:p>
        </p:txBody>
      </p:sp>
      <p:sp>
        <p:nvSpPr>
          <p:cNvPr id="8" name="stat-tile-Triggers"/>
          <p:cNvSpPr/>
          <p:nvPr/>
        </p:nvSpPr>
        <p:spPr>
          <a:xfrm>
            <a:off x="5577840" y="274320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2926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Triggers</a:t>
            </a:r>
            <a:endParaRPr lang="en-US" sz="3200" dirty="0"/>
          </a:p>
        </p:txBody>
      </p:sp>
      <p:sp>
        <p:nvSpPr>
          <p:cNvPr id="10" name="stat-tile-Views"/>
          <p:cNvSpPr/>
          <p:nvPr/>
        </p:nvSpPr>
        <p:spPr>
          <a:xfrm>
            <a:off x="7223760" y="274320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2926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Views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60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4" name="question-mark"/>
          <p:cNvSpPr txBox="1"/>
          <p:nvPr/>
        </p:nvSpPr>
        <p:spPr>
          <a:xfrm>
            <a:off x="6766560" y="137160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Management">
  <a:themeElements>
    <a:clrScheme name="Food Management">
      <a:dk1>
        <a:srgbClr val="2A1A14"/>
      </a:dk1>
      <a:lt1>
        <a:srgbClr val="FFFFFF"/>
      </a:lt1>
      <a:dk2>
        <a:srgbClr val="5B4A42"/>
      </a:dk2>
      <a:lt2>
        <a:srgbClr val="FDF0E4"/>
      </a:lt2>
      <a:accent1>
        <a:srgbClr val="C2410C"/>
      </a:accent1>
      <a:accent2>
        <a:srgbClr val="F4A62A"/>
      </a:accent2>
      <a:accent3>
        <a:srgbClr val="3F7D4E"/>
      </a:accent3>
      <a:accent4>
        <a:srgbClr val="8C2F1B"/>
      </a:accent4>
      <a:accent5>
        <a:srgbClr val="E8C9A8"/>
      </a:accent5>
      <a:accent6>
        <a:srgbClr val="7A5C4D"/>
      </a:accent6>
      <a:hlink>
        <a:srgbClr val="C2410C"/>
      </a:hlink>
      <a:folHlink>
        <a:srgbClr val="7A5C4D"/>
      </a:folHlink>
    </a:clrScheme>
    <a:fontScheme name="Food Manage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1488</Words>
  <Application>Microsoft Office PowerPoint</Application>
  <PresentationFormat>On-screen Show (16:9)</PresentationFormat>
  <Paragraphs>359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Food Management</vt:lpstr>
      <vt:lpstr>Food Management System</vt:lpstr>
      <vt:lpstr>1. Project Overview</vt:lpstr>
      <vt:lpstr>2. Problem Statement &amp; Objectives</vt:lpstr>
      <vt:lpstr>3. Technology Stack &amp; Scope</vt:lpstr>
      <vt:lpstr>4. System Architecture</vt:lpstr>
      <vt:lpstr>5. Entity Relationship Diagram</vt:lpstr>
      <vt:lpstr>6. Database Schema</vt:lpstr>
      <vt:lpstr>7. Key Relationships</vt:lpstr>
      <vt:lpstr>8. Many-to-Many &amp; Normalization</vt:lpstr>
      <vt:lpstr>9. Implementation &amp; Verification</vt:lpstr>
      <vt:lpstr>10. Automatic Order Calculation</vt:lpstr>
      <vt:lpstr>11. Views &amp; Stored Procedures</vt:lpstr>
      <vt:lpstr>12. SQL Reporting &amp; Revenue Analysis</vt:lpstr>
      <vt:lpstr>13. Business Questions Answered</vt:lpstr>
      <vt:lpstr>14. Data Integrity &amp; Performance</vt:lpstr>
      <vt:lpstr>15. End-to-End Project Workflow</vt:lpstr>
      <vt:lpstr>16. Results &amp; Key Outcomes</vt:lpstr>
      <vt:lpstr>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Management System</dc:title>
  <dc:subject>PptxGenJS Presentation</dc:subject>
  <dc:creator>PptxGenJS</dc:creator>
  <cp:lastModifiedBy>Lenka Lokesh</cp:lastModifiedBy>
  <cp:revision>1</cp:revision>
  <dcterms:created xsi:type="dcterms:W3CDTF">2026-10-15T14:22:58Z</dcterms:created>
  <dcterms:modified xsi:type="dcterms:W3CDTF">2026-10-16T18:00:11Z</dcterms:modified>
</cp:coreProperties>
</file>